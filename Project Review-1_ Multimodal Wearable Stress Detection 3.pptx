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7.png"/><Relationship Id="rId7" Type="http://schemas.openxmlformats.org/officeDocument/2006/relationships/image" Target="../media/image23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10" Type="http://schemas.openxmlformats.org/officeDocument/2006/relationships/image" Target="../media/image43.png"/><Relationship Id="rId4" Type="http://schemas.openxmlformats.org/officeDocument/2006/relationships/image" Target="../media/image38.png"/><Relationship Id="rId9" Type="http://schemas.openxmlformats.org/officeDocument/2006/relationships/image" Target="../media/image4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3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11" Type="http://schemas.openxmlformats.org/officeDocument/2006/relationships/image" Target="../media/image51.png"/><Relationship Id="rId5" Type="http://schemas.openxmlformats.org/officeDocument/2006/relationships/image" Target="../media/image46.png"/><Relationship Id="rId10" Type="http://schemas.openxmlformats.org/officeDocument/2006/relationships/image" Target="../media/image50.png"/><Relationship Id="rId4" Type="http://schemas.openxmlformats.org/officeDocument/2006/relationships/image" Target="../media/image45.png"/><Relationship Id="rId9" Type="http://schemas.openxmlformats.org/officeDocument/2006/relationships/image" Target="../media/image4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23.png"/><Relationship Id="rId18" Type="http://schemas.openxmlformats.org/officeDocument/2006/relationships/image" Target="../media/image74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12" Type="http://schemas.openxmlformats.org/officeDocument/2006/relationships/image" Target="../media/image41.png"/><Relationship Id="rId17" Type="http://schemas.openxmlformats.org/officeDocument/2006/relationships/image" Target="../media/image73.png"/><Relationship Id="rId2" Type="http://schemas.openxmlformats.org/officeDocument/2006/relationships/image" Target="../media/image1.png"/><Relationship Id="rId16" Type="http://schemas.openxmlformats.org/officeDocument/2006/relationships/image" Target="../media/image72.png"/><Relationship Id="rId20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5" Type="http://schemas.openxmlformats.org/officeDocument/2006/relationships/image" Target="../media/image63.png"/><Relationship Id="rId15" Type="http://schemas.openxmlformats.org/officeDocument/2006/relationships/image" Target="../media/image71.png"/><Relationship Id="rId10" Type="http://schemas.openxmlformats.org/officeDocument/2006/relationships/image" Target="../media/image68.png"/><Relationship Id="rId19" Type="http://schemas.openxmlformats.org/officeDocument/2006/relationships/image" Target="../media/image75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Relationship Id="rId14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" y="2472035"/>
            <a:ext cx="11182350" cy="197967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25" y="5051780"/>
            <a:ext cx="11182350" cy="7572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" y="2948285"/>
            <a:ext cx="3495675" cy="96678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2450" y="2948285"/>
            <a:ext cx="3495675" cy="96678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1475" y="2948285"/>
            <a:ext cx="3495675" cy="9667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4825" y="742950"/>
            <a:ext cx="11001375" cy="1033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071"/>
              </a:lnSpc>
            </a:pPr>
            <a:r>
              <a:rPr sz="3450" b="1" i="0" u="none">
                <a:solidFill>
                  <a:srgbClr val="5D1324"/>
                </a:solidFill>
                <a:latin typeface="Poppins"/>
              </a:rPr>
              <a:t>AI-Driven Multimodal Wearable Stress Monitoring &amp; Telemedicine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825" y="1891010"/>
            <a:ext cx="95250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5C4A4D"/>
                </a:solidFill>
                <a:latin typeface="Lato"/>
              </a:rPr>
              <a:t>Real-Time Physiological Dynamics Capture via Advanced Deep Learning, Extended Biosensor Integration, and Remote Clinical Dashboards.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425" y="2633960"/>
            <a:ext cx="11291411" cy="219075"/>
          </a:xfrm>
          <a:prstGeom prst="rect">
            <a:avLst/>
          </a:prstGeom>
          <a:noFill/>
        </p:spPr>
        <p:txBody>
          <a:bodyPr wrap="square" lIns="224879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7A1C30"/>
                </a:solidFill>
                <a:latin typeface="Poppins"/>
              </a:rPr>
              <a:t>MANDATORY REVIEW DELIVERABLES (TASKS 1, 2 &amp; 3)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2672060"/>
            <a:ext cx="148679" cy="1428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4825" y="5213705"/>
            <a:ext cx="3807038" cy="171450"/>
          </a:xfrm>
          <a:prstGeom prst="rect">
            <a:avLst/>
          </a:prstGeom>
          <a:noFill/>
        </p:spPr>
        <p:txBody>
          <a:bodyPr wrap="square" lIns="204787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7A1C30"/>
                </a:solidFill>
                <a:latin typeface="Poppins"/>
              </a:rPr>
              <a:t>GROUP MEMBERS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825" y="5423255"/>
            <a:ext cx="3625750" cy="171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1" i="0" u="none" dirty="0">
                <a:solidFill>
                  <a:srgbClr val="2B181D"/>
                </a:solidFill>
                <a:latin typeface="Lato"/>
              </a:rPr>
              <a:t>Member 1: </a:t>
            </a:r>
            <a:r>
              <a:rPr lang="en-IN" sz="1012" b="1" i="0" u="none" dirty="0">
                <a:solidFill>
                  <a:srgbClr val="2B181D"/>
                </a:solidFill>
                <a:latin typeface="Lato"/>
              </a:rPr>
              <a:t>AARAV SHUKLA (25BCE0707)</a:t>
            </a:r>
            <a:endParaRPr sz="1012" b="1" i="0" u="none" dirty="0">
              <a:solidFill>
                <a:srgbClr val="2B181D"/>
              </a:solidFill>
              <a:latin typeface="Lato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4825" y="5616136"/>
            <a:ext cx="3625750" cy="171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1" i="0" u="none" dirty="0">
                <a:solidFill>
                  <a:srgbClr val="2B181D"/>
                </a:solidFill>
                <a:latin typeface="Lato"/>
              </a:rPr>
              <a:t>Member 2: </a:t>
            </a:r>
            <a:r>
              <a:rPr lang="en-IN" sz="1012" b="1" dirty="0">
                <a:solidFill>
                  <a:srgbClr val="2B181D"/>
                </a:solidFill>
                <a:latin typeface="Lato"/>
              </a:rPr>
              <a:t>SAANVY PANDA (25BCE2180)</a:t>
            </a:r>
            <a:endParaRPr sz="1012" b="1" i="0" u="none" dirty="0">
              <a:solidFill>
                <a:srgbClr val="2B181D"/>
              </a:solidFill>
              <a:latin typeface="Lato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282975" y="5213705"/>
            <a:ext cx="3807194" cy="171450"/>
          </a:xfrm>
          <a:prstGeom prst="rect">
            <a:avLst/>
          </a:prstGeom>
          <a:noFill/>
        </p:spPr>
        <p:txBody>
          <a:bodyPr wrap="square" lIns="204787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7A1C30"/>
                </a:solidFill>
                <a:latin typeface="Poppins"/>
              </a:rPr>
              <a:t>PROJECT GUIDE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82975" y="5423255"/>
            <a:ext cx="3625899" cy="171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1" i="0" u="none" dirty="0">
                <a:solidFill>
                  <a:srgbClr val="2B181D"/>
                </a:solidFill>
                <a:latin typeface="Lato"/>
              </a:rPr>
              <a:t>Dr. </a:t>
            </a:r>
            <a:r>
              <a:rPr lang="en-IN" sz="1012" b="1" dirty="0">
                <a:solidFill>
                  <a:srgbClr val="2B181D"/>
                </a:solidFill>
                <a:latin typeface="Lato"/>
              </a:rPr>
              <a:t>VIVEK RAJPOOT</a:t>
            </a:r>
            <a:endParaRPr sz="1012" b="1" i="0" u="none" dirty="0">
              <a:solidFill>
                <a:srgbClr val="2B181D"/>
              </a:solidFill>
              <a:latin typeface="Lato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282975" y="5616136"/>
            <a:ext cx="3625899" cy="171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1" i="0" u="none" dirty="0">
                <a:solidFill>
                  <a:srgbClr val="2B181D"/>
                </a:solidFill>
                <a:latin typeface="Lato"/>
              </a:rPr>
              <a:t>Department</a:t>
            </a:r>
            <a:r>
              <a:rPr lang="en-IN" sz="1012" b="1" i="0" u="none" dirty="0">
                <a:solidFill>
                  <a:srgbClr val="2B181D"/>
                </a:solidFill>
                <a:latin typeface="Lato"/>
              </a:rPr>
              <a:t> of Communication </a:t>
            </a:r>
            <a:r>
              <a:rPr lang="en-IN" sz="1012" b="1" i="0" u="none" dirty="0" err="1">
                <a:solidFill>
                  <a:srgbClr val="2B181D"/>
                </a:solidFill>
                <a:latin typeface="Lato"/>
              </a:rPr>
              <a:t>Engg</a:t>
            </a:r>
            <a:r>
              <a:rPr lang="en-IN" sz="1012" b="1" dirty="0">
                <a:solidFill>
                  <a:srgbClr val="2B181D"/>
                </a:solidFill>
                <a:latin typeface="Lato"/>
              </a:rPr>
              <a:t>.</a:t>
            </a:r>
            <a:endParaRPr sz="1012" b="1" i="0" u="none" dirty="0">
              <a:solidFill>
                <a:srgbClr val="2B181D"/>
              </a:solidFill>
              <a:latin typeface="Lato"/>
            </a:endParaRP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7250" y="3062585"/>
            <a:ext cx="581025" cy="20002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57250" y="3281660"/>
            <a:ext cx="32480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2B181D"/>
                </a:solidFill>
                <a:latin typeface="Lato SemiBold"/>
              </a:rPr>
              <a:t>Deep Learning Classifiers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250" y="3467397"/>
            <a:ext cx="32480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6E5D60"/>
                </a:solidFill>
                <a:latin typeface="Lato"/>
              </a:rPr>
              <a:t>Benchmarking CNN, LSTM, Bi-LSTM, Transformer, Temporal Transformer &amp; GNN models.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86275" y="3062585"/>
            <a:ext cx="581025" cy="20002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486275" y="3281660"/>
            <a:ext cx="32480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2B181D"/>
                </a:solidFill>
                <a:latin typeface="Lato SemiBold"/>
              </a:rPr>
              <a:t>Sensor Expansion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6275" y="3467397"/>
            <a:ext cx="32480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6E5D60"/>
                </a:solidFill>
                <a:latin typeface="Lato"/>
              </a:rPr>
              <a:t>Integration of EEG, PPG, Respiration, SpO₂, Blood Pressure, EMG, ECG, GSR &amp; ST.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15300" y="3062585"/>
            <a:ext cx="581025" cy="20002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115300" y="3281660"/>
            <a:ext cx="32480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2B181D"/>
                </a:solidFill>
                <a:latin typeface="Lato SemiBold"/>
              </a:rPr>
              <a:t>Telemedicine Platform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15300" y="3467397"/>
            <a:ext cx="32480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6E5D60"/>
                </a:solidFill>
                <a:latin typeface="Lato"/>
              </a:rPr>
              <a:t>Remote monitoring, mobile alerts, historical trends &amp; clinician dashboard.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4825" y="5242280"/>
            <a:ext cx="147637" cy="1143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82975" y="5242280"/>
            <a:ext cx="147637" cy="11430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7E7AB371-A4FA-4AE1-4A37-B70ACBB501E6}"/>
              </a:ext>
            </a:extLst>
          </p:cNvPr>
          <p:cNvSpPr txBox="1"/>
          <p:nvPr/>
        </p:nvSpPr>
        <p:spPr>
          <a:xfrm>
            <a:off x="504825" y="5788043"/>
            <a:ext cx="3625750" cy="171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1" i="0" u="none" dirty="0">
                <a:solidFill>
                  <a:srgbClr val="2B181D"/>
                </a:solidFill>
                <a:latin typeface="Lato"/>
              </a:rPr>
              <a:t>Member </a:t>
            </a:r>
            <a:r>
              <a:rPr lang="en-IN" sz="1012" b="1" i="0" u="none" dirty="0">
                <a:solidFill>
                  <a:srgbClr val="2B181D"/>
                </a:solidFill>
                <a:latin typeface="Lato"/>
              </a:rPr>
              <a:t>3</a:t>
            </a:r>
            <a:r>
              <a:rPr sz="1012" b="1" i="0" u="none" dirty="0">
                <a:solidFill>
                  <a:srgbClr val="2B181D"/>
                </a:solidFill>
                <a:latin typeface="Lato"/>
              </a:rPr>
              <a:t>: </a:t>
            </a:r>
            <a:r>
              <a:rPr lang="en-IN" sz="1012" b="1" dirty="0">
                <a:solidFill>
                  <a:srgbClr val="2B181D"/>
                </a:solidFill>
                <a:latin typeface="Lato"/>
              </a:rPr>
              <a:t>PRANEET RAJ (25BCE2280)</a:t>
            </a:r>
            <a:endParaRPr sz="1012" b="1" i="0" u="none" dirty="0">
              <a:solidFill>
                <a:srgbClr val="2B181D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" y="1133475"/>
            <a:ext cx="5476875" cy="382949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1133475"/>
            <a:ext cx="5476875" cy="382949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825" y="5115371"/>
            <a:ext cx="3613100" cy="1619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9375" y="5115371"/>
            <a:ext cx="3613100" cy="1619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3925" y="5115371"/>
            <a:ext cx="3613249" cy="1619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4825" y="390525"/>
            <a:ext cx="1168717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0" i="0" u="none">
                <a:solidFill>
                  <a:srgbClr val="7A1C30"/>
                </a:solidFill>
                <a:latin typeface="Poppins SemiBold"/>
              </a:rPr>
              <a:t>Project Objectives &amp; Scope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4825" y="923925"/>
            <a:ext cx="11182350" cy="19050"/>
          </a:xfrm>
          <a:prstGeom prst="rect">
            <a:avLst/>
          </a:prstGeom>
          <a:solidFill>
            <a:srgbClr val="F0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77550" y="485775"/>
            <a:ext cx="809625" cy="247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3425" y="1733550"/>
            <a:ext cx="5048250" cy="883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087" b="0" i="0" u="none">
                <a:solidFill>
                  <a:srgbClr val="3B282C"/>
                </a:solidFill>
                <a:latin typeface="Lato"/>
              </a:rPr>
              <a:t>To design, develop, and evaluate an automated, non-invasive, high-accuracy mental stress detection platform by leveraging </a:t>
            </a:r>
            <a:r>
              <a:rPr sz="1087" b="1" i="0" u="none">
                <a:solidFill>
                  <a:srgbClr val="3B282C"/>
                </a:solidFill>
                <a:latin typeface="Lato"/>
              </a:rPr>
              <a:t>multimodal wearable biosensors</a:t>
            </a:r>
            <a:r>
              <a:rPr sz="1087" b="0" i="0" u="none">
                <a:solidFill>
                  <a:srgbClr val="3B282C"/>
                </a:solidFill>
                <a:latin typeface="Lato"/>
              </a:rPr>
              <a:t>, </a:t>
            </a:r>
            <a:r>
              <a:rPr sz="1087" b="1" i="0" u="none">
                <a:solidFill>
                  <a:srgbClr val="3B282C"/>
                </a:solidFill>
                <a:latin typeface="Lato"/>
              </a:rPr>
              <a:t>advanced Deep Learning architectures</a:t>
            </a:r>
            <a:r>
              <a:rPr sz="1087" b="0" i="0" u="none">
                <a:solidFill>
                  <a:srgbClr val="3B282C"/>
                </a:solidFill>
                <a:latin typeface="Lato"/>
              </a:rPr>
              <a:t>, and an </a:t>
            </a:r>
            <a:r>
              <a:rPr sz="1087" b="1" i="0" u="none">
                <a:solidFill>
                  <a:srgbClr val="3B282C"/>
                </a:solidFill>
                <a:latin typeface="Lato"/>
              </a:rPr>
              <a:t>end-to-end IoT Telemedicine cloud infrastructure</a:t>
            </a:r>
            <a:r>
              <a:rPr sz="1087" b="0" i="0" u="none">
                <a:solidFill>
                  <a:srgbClr val="3B282C"/>
                </a:solidFill>
                <a:latin typeface="Lato"/>
              </a:rPr>
              <a:t>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9825" y="1143000"/>
            <a:ext cx="5457825" cy="3810446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850" y="5296346"/>
            <a:ext cx="1176337" cy="2000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4850" y="5591621"/>
            <a:ext cx="32130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A1020"/>
                </a:solidFill>
                <a:latin typeface="Lato SemiBold"/>
              </a:rPr>
              <a:t>Advanced Deep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850" y="5839271"/>
            <a:ext cx="3213050" cy="714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sz="937" b="0" i="0" u="none">
                <a:solidFill>
                  <a:srgbClr val="4A3B3E"/>
                </a:solidFill>
                <a:latin typeface="Lato"/>
              </a:rPr>
              <a:t>Replace baseline classifiers (XGBoost 96.17%, RF) with </a:t>
            </a:r>
            <a:r>
              <a:rPr sz="937" b="1" i="0" u="none">
                <a:solidFill>
                  <a:srgbClr val="4A3B3E"/>
                </a:solidFill>
                <a:latin typeface="Lato"/>
              </a:rPr>
              <a:t>CNN, LSTM, Bi-LSTM, Transformer, Temporal Transformer, and Graph Neural Networks (GNN)</a:t>
            </a:r>
            <a:r>
              <a:rPr sz="937" b="0" i="0" u="none">
                <a:solidFill>
                  <a:srgbClr val="4A3B3E"/>
                </a:solidFill>
                <a:latin typeface="Lato"/>
              </a:rPr>
              <a:t> to evaluate non-stationary temporal dynamics.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89400" y="5296346"/>
            <a:ext cx="1643062" cy="2000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489400" y="5591621"/>
            <a:ext cx="32130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A1020"/>
                </a:solidFill>
                <a:latin typeface="Lato SemiBold"/>
              </a:rPr>
              <a:t>Robust Multimodal Sensing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9400" y="5839271"/>
            <a:ext cx="3213050" cy="714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sz="937" b="0" i="0" u="none">
                <a:solidFill>
                  <a:srgbClr val="4A3B3E"/>
                </a:solidFill>
                <a:latin typeface="Lato"/>
              </a:rPr>
              <a:t>Expand beyond ECG/GSR/ST to incorporate </a:t>
            </a:r>
            <a:r>
              <a:rPr sz="937" b="1" i="0" u="none">
                <a:solidFill>
                  <a:srgbClr val="4A3B3E"/>
                </a:solidFill>
                <a:latin typeface="Lato"/>
              </a:rPr>
              <a:t>EEG (brainwaves), PPG, Respiration, SpO₂, Blood Pressure (NIBP), and EMG (muscle tension)</a:t>
            </a:r>
            <a:r>
              <a:rPr sz="937" b="0" i="0" u="none">
                <a:solidFill>
                  <a:srgbClr val="4A3B3E"/>
                </a:solidFill>
                <a:latin typeface="Lato"/>
              </a:rPr>
              <a:t> for comprehensive physiological validation.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73950" y="5296346"/>
            <a:ext cx="1323975" cy="20002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73950" y="5591621"/>
            <a:ext cx="3213199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A1020"/>
                </a:solidFill>
                <a:latin typeface="Lato SemiBold"/>
              </a:rPr>
              <a:t>Remote Telemedicine Ecosystem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3950" y="5839271"/>
            <a:ext cx="3213199" cy="5357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sz="937" b="0" i="0" u="none">
                <a:solidFill>
                  <a:srgbClr val="4A3B3E"/>
                </a:solidFill>
                <a:latin typeface="Lato"/>
              </a:rPr>
              <a:t>Deploy an IoT cloud server featuring </a:t>
            </a:r>
            <a:r>
              <a:rPr sz="937" b="1" i="0" u="none">
                <a:solidFill>
                  <a:srgbClr val="4A3B3E"/>
                </a:solidFill>
                <a:latin typeface="Lato"/>
              </a:rPr>
              <a:t>instant mobile push notifications, historical trend analytics, clinician monitoring dashboards, and telemedicine video links</a:t>
            </a:r>
            <a:r>
              <a:rPr sz="937" b="0" i="0" u="none">
                <a:solidFill>
                  <a:srgbClr val="4A3B3E"/>
                </a:solidFill>
                <a:latin typeface="Lato"/>
              </a:rPr>
              <a:t>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3425" y="1314450"/>
            <a:ext cx="342900" cy="3429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71575" y="1385887"/>
            <a:ext cx="1905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A1020"/>
                </a:solidFill>
                <a:latin typeface="Lato SemiBold"/>
              </a:rPr>
              <a:t>Core Objective Statement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8675" y="1409700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" y="1512093"/>
            <a:ext cx="2160240" cy="11848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0315" y="1512093"/>
            <a:ext cx="2160240" cy="118482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5805" y="1512093"/>
            <a:ext cx="2160240" cy="118482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1295" y="1512093"/>
            <a:ext cx="2160240" cy="118482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6785" y="1512093"/>
            <a:ext cx="2160240" cy="118482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825" y="2887414"/>
            <a:ext cx="5476875" cy="1316831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2887414"/>
            <a:ext cx="5476875" cy="13168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4825" y="390525"/>
            <a:ext cx="1168717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0" i="0" u="none">
                <a:solidFill>
                  <a:srgbClr val="7A1C30"/>
                </a:solidFill>
                <a:latin typeface="Poppins SemiBold"/>
              </a:rPr>
              <a:t>Project Flowchart &amp; Execution Steps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825" y="923925"/>
            <a:ext cx="11182350" cy="19050"/>
          </a:xfrm>
          <a:prstGeom prst="rect">
            <a:avLst/>
          </a:prstGeom>
          <a:solidFill>
            <a:srgbClr val="F0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77550" y="485775"/>
            <a:ext cx="809625" cy="247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4825" y="1133475"/>
            <a:ext cx="11182350" cy="207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0" i="0" u="none">
                <a:solidFill>
                  <a:srgbClr val="4A3B3E"/>
                </a:solidFill>
                <a:latin typeface="Lato"/>
              </a:rPr>
              <a:t>The project methodology follows 5 structured execution steps from physical signal capture to clinical intervention: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" y="1674018"/>
            <a:ext cx="187449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7A1C30"/>
                </a:solidFill>
                <a:latin typeface="Lato"/>
              </a:rPr>
              <a:t>STEP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" y="1854993"/>
            <a:ext cx="187449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A1020"/>
                </a:solidFill>
                <a:latin typeface="Lato SemiBold"/>
              </a:rPr>
              <a:t>Multimodal Sensing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" y="2074068"/>
            <a:ext cx="1874490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5C4A4D"/>
                </a:solidFill>
                <a:latin typeface="Lato"/>
              </a:rPr>
              <a:t>Acquire raw signals (EEG, PPG, ECG, GSR, SpO₂, NIBP, EMG, Temp) via wearable hardware.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3190" y="1674018"/>
            <a:ext cx="187449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7A1C30"/>
                </a:solidFill>
                <a:latin typeface="Lato"/>
              </a:rPr>
              <a:t>STEP 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03190" y="1854993"/>
            <a:ext cx="187449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A1020"/>
                </a:solidFill>
                <a:latin typeface="Lato SemiBold"/>
              </a:rPr>
              <a:t>Signal Preprocessing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03190" y="2074068"/>
            <a:ext cx="1874490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5C4A4D"/>
                </a:solidFill>
                <a:latin typeface="Lato"/>
              </a:rPr>
              <a:t>Apply Notch (50Hz), Low-pass Butterworth filters &amp; FastICA for artifact removal.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8680" y="1674018"/>
            <a:ext cx="187449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7A1C30"/>
                </a:solidFill>
                <a:latin typeface="Lato"/>
              </a:rPr>
              <a:t>STEP 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58680" y="1854993"/>
            <a:ext cx="187449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A1020"/>
                </a:solidFill>
                <a:latin typeface="Lato SemiBold"/>
              </a:rPr>
              <a:t>Feature Extraction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8680" y="2074068"/>
            <a:ext cx="1874490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5C4A4D"/>
                </a:solidFill>
                <a:latin typeface="Lato"/>
              </a:rPr>
              <a:t>Compute time-domain, frequency-domain (DWT/FT), non-linear HRV, and spatial graph nodes.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14170" y="1674018"/>
            <a:ext cx="187449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7A1C30"/>
                </a:solidFill>
                <a:latin typeface="Lato"/>
              </a:rPr>
              <a:t>STEP 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14170" y="1854993"/>
            <a:ext cx="187449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A1020"/>
                </a:solidFill>
                <a:latin typeface="Lato SemiBold"/>
              </a:rPr>
              <a:t>DL Inference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14170" y="2074068"/>
            <a:ext cx="1874490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5C4A4D"/>
                </a:solidFill>
                <a:latin typeface="Lato"/>
              </a:rPr>
              <a:t>Train &amp; benchmark CNN, Bi-LSTM, Temporal Transformers, and GNNs for stress prediction.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69660" y="1674018"/>
            <a:ext cx="187449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7A1C30"/>
                </a:solidFill>
                <a:latin typeface="Lato"/>
              </a:rPr>
              <a:t>STEP 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69660" y="1854993"/>
            <a:ext cx="187449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A1020"/>
                </a:solidFill>
                <a:latin typeface="Lato SemiBold"/>
              </a:rPr>
              <a:t>Cloud &amp; Telemedicine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69660" y="2074068"/>
            <a:ext cx="1874490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5C4A4D"/>
                </a:solidFill>
                <a:latin typeface="Lato"/>
              </a:rPr>
              <a:t>Sync via MQTT/HTTP to clinician portal, trigger mobile alerts &amp; enable telemedicine video calls.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425" y="3487489"/>
            <a:ext cx="5048250" cy="5357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sz="937" b="0" i="0" u="none">
                <a:solidFill>
                  <a:srgbClr val="5C4A4D"/>
                </a:solidFill>
                <a:latin typeface="Lato"/>
              </a:rPr>
              <a:t>Raw biosignals contain motion artifacts and powerline noise. We utilize </a:t>
            </a:r>
            <a:r>
              <a:rPr sz="937" b="1" i="0" u="none">
                <a:solidFill>
                  <a:srgbClr val="5C4A4D"/>
                </a:solidFill>
                <a:latin typeface="Lato"/>
              </a:rPr>
              <a:t>Fast Independent Component Analysis (FastICA)</a:t>
            </a:r>
            <a:r>
              <a:rPr sz="937" b="0" i="0" u="none">
                <a:solidFill>
                  <a:srgbClr val="5C4A4D"/>
                </a:solidFill>
                <a:latin typeface="Lato"/>
              </a:rPr>
              <a:t> and </a:t>
            </a:r>
            <a:r>
              <a:rPr sz="937" b="1" i="0" u="none">
                <a:solidFill>
                  <a:srgbClr val="5C4A4D"/>
                </a:solidFill>
                <a:latin typeface="Lato"/>
              </a:rPr>
              <a:t>StandardScaler</a:t>
            </a:r>
            <a:r>
              <a:rPr sz="937" b="0" i="0" u="none">
                <a:solidFill>
                  <a:srgbClr val="5C4A4D"/>
                </a:solidFill>
                <a:latin typeface="Lato"/>
              </a:rPr>
              <a:t> normalization to extract uncorrupted source components prior to model training.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38900" y="3487489"/>
            <a:ext cx="5048250" cy="5357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sz="937" b="0" i="0" u="none">
                <a:solidFill>
                  <a:srgbClr val="5C4A4D"/>
                </a:solidFill>
                <a:latin typeface="Lato"/>
              </a:rPr>
              <a:t>The onboard microcontroller processes sliding windows ($1.0\text{s} - 3.0\text{s}$) with edge filtering, targeting an end-to-end detection and notification latency of </a:t>
            </a:r>
            <a:r>
              <a:rPr sz="937" b="1" i="0" u="none">
                <a:solidFill>
                  <a:srgbClr val="5C4A4D"/>
                </a:solidFill>
                <a:latin typeface="Lato"/>
              </a:rPr>
              <a:t>&lt; 1.2 seconds</a:t>
            </a:r>
            <a:r>
              <a:rPr sz="937" b="0" i="0" u="none">
                <a:solidFill>
                  <a:srgbClr val="5C4A4D"/>
                </a:solidFill>
                <a:latin typeface="Lato"/>
              </a:rPr>
              <a:t> for emergency push alerts.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425" y="3068389"/>
            <a:ext cx="342900" cy="3429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171575" y="3139826"/>
            <a:ext cx="24288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A1020"/>
                </a:solidFill>
                <a:latin typeface="Lato SemiBold"/>
              </a:rPr>
              <a:t>Preprocessing &amp; FastICA Pipeline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8900" y="3068389"/>
            <a:ext cx="342900" cy="3429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877050" y="3139826"/>
            <a:ext cx="2667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A1020"/>
                </a:solidFill>
                <a:latin typeface="Lato SemiBold"/>
              </a:rPr>
              <a:t>Latency &amp; Real-Time Processing Goal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8675" y="3163639"/>
            <a:ext cx="152400" cy="1524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34150" y="3163639"/>
            <a:ext cx="152400" cy="1524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46016" y="2085379"/>
            <a:ext cx="76200" cy="12382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01506" y="2085379"/>
            <a:ext cx="76200" cy="12382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56996" y="2085379"/>
            <a:ext cx="76200" cy="12382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12487" y="2085379"/>
            <a:ext cx="76200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" y="1133475"/>
            <a:ext cx="5476875" cy="3476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1133475"/>
            <a:ext cx="5476875" cy="34766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4825" y="390525"/>
            <a:ext cx="1168717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0" i="0" u="none">
                <a:solidFill>
                  <a:srgbClr val="7A1C30"/>
                </a:solidFill>
                <a:latin typeface="Poppins SemiBold"/>
              </a:rPr>
              <a:t>Project Components &amp; Details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4825" y="923925"/>
            <a:ext cx="11182350" cy="19050"/>
          </a:xfrm>
          <a:prstGeom prst="rect">
            <a:avLst/>
          </a:prstGeom>
          <a:solidFill>
            <a:srgbClr val="F0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77550" y="485775"/>
            <a:ext cx="809625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50" y="4941093"/>
            <a:ext cx="171450" cy="171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52500" y="4848225"/>
            <a:ext cx="10572750" cy="3571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sz="937" b="1" i="0" u="none">
                <a:solidFill>
                  <a:srgbClr val="4A3B3E"/>
                </a:solidFill>
                <a:latin typeface="Lato"/>
              </a:rPr>
              <a:t>Sensor Fusion Rationale:</a:t>
            </a:r>
            <a:r>
              <a:rPr sz="937" b="0" i="0" u="none">
                <a:solidFill>
                  <a:srgbClr val="4A3B3E"/>
                </a:solidFill>
                <a:latin typeface="Lato"/>
              </a:rPr>
              <a:t> Combining central nervous system signals (EEG) with autonomic nervous system parameters (ECG, GSR, PPG, BP) helps differentiate physical exertion from true psychological stress, greatly reducing false alarms.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04850" y="1790700"/>
          <a:ext cx="5076823" cy="2638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7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9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99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9737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FFFFFF"/>
                          </a:solidFill>
                          <a:latin typeface="Lato SemiBold"/>
                        </a:rPr>
                        <a:t>Component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A1C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FFFFFF"/>
                          </a:solidFill>
                          <a:latin typeface="Lato SemiBold"/>
                        </a:rPr>
                        <a:t>Model / Spec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A1C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FFFFFF"/>
                          </a:solidFill>
                          <a:latin typeface="Lato SemiBold"/>
                        </a:rPr>
                        <a:t>Target Signal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A1C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737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3B282C"/>
                          </a:solidFill>
                          <a:latin typeface="Lato"/>
                        </a:rPr>
                        <a:t>Microcontroller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B282C"/>
                          </a:solidFill>
                          <a:latin typeface="Lato"/>
                        </a:rPr>
                        <a:t>ESP32 / Arduino Mega 2560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B282C"/>
                          </a:solidFill>
                          <a:latin typeface="Lato"/>
                        </a:rPr>
                        <a:t>Dual-core processing, Wi-Fi/BLE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737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3B282C"/>
                          </a:solidFill>
                          <a:latin typeface="Lato"/>
                        </a:rPr>
                        <a:t>ECG &amp; PPG Sensor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B282C"/>
                          </a:solidFill>
                          <a:latin typeface="Lato"/>
                        </a:rPr>
                        <a:t>AD8232 / MAX30102 Module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B282C"/>
                          </a:solidFill>
                          <a:latin typeface="Lato"/>
                        </a:rPr>
                        <a:t>Heart Rate, HRV, SpO₂ pulse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737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3B282C"/>
                          </a:solidFill>
                          <a:latin typeface="Lato"/>
                        </a:rPr>
                        <a:t>GSR &amp; Temp Sensor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B282C"/>
                          </a:solidFill>
                          <a:latin typeface="Lato"/>
                        </a:rPr>
                        <a:t>Grove GSR + DS18B20 Digital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B282C"/>
                          </a:solidFill>
                          <a:latin typeface="Lato"/>
                        </a:rPr>
                        <a:t>Skin Conductance &amp; Temperature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737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3B282C"/>
                          </a:solidFill>
                          <a:latin typeface="Lato"/>
                        </a:rPr>
                        <a:t>EEG &amp; EMG Modules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B282C"/>
                          </a:solidFill>
                          <a:latin typeface="Lato"/>
                        </a:rPr>
                        <a:t>TGAM / MyoWare Muscle Sensor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B282C"/>
                          </a:solidFill>
                          <a:latin typeface="Lato"/>
                        </a:rPr>
                        <a:t>Alpha/Beta waves &amp; Muscle tension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740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3B282C"/>
                          </a:solidFill>
                          <a:latin typeface="Lato"/>
                        </a:rPr>
                        <a:t>NIBP &amp; Respiration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B282C"/>
                          </a:solidFill>
                          <a:latin typeface="Lato"/>
                        </a:rPr>
                        <a:t>Piezo Respiration + NIBP Sensor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B282C"/>
                          </a:solidFill>
                          <a:latin typeface="Lato"/>
                        </a:rPr>
                        <a:t>Breathing Rate &amp; Blood Pressure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10325" y="1790700"/>
          <a:ext cx="5076823" cy="2486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67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98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01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4337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FFFFFF"/>
                          </a:solidFill>
                          <a:latin typeface="Lato SemiBold"/>
                        </a:rPr>
                        <a:t>Module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A1C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FFFFFF"/>
                          </a:solidFill>
                          <a:latin typeface="Lato SemiBold"/>
                        </a:rPr>
                        <a:t>Technology Stack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A1C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FFFFFF"/>
                          </a:solidFill>
                          <a:latin typeface="Lato SemiBold"/>
                        </a:rPr>
                        <a:t>Functional Role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A1C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337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3B282C"/>
                          </a:solidFill>
                          <a:latin typeface="Lato"/>
                        </a:rPr>
                        <a:t>Deep Learning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B282C"/>
                          </a:solidFill>
                          <a:latin typeface="Lato"/>
                        </a:rPr>
                        <a:t>PyTorch / TensorFlow, CUDA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B282C"/>
                          </a:solidFill>
                          <a:latin typeface="Lato"/>
                        </a:rPr>
                        <a:t>CNN, Bi-LSTM, Transformer, GNN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337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3B282C"/>
                          </a:solidFill>
                          <a:latin typeface="Lato"/>
                        </a:rPr>
                        <a:t>Embedded Firmware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B282C"/>
                          </a:solidFill>
                          <a:latin typeface="Lato"/>
                        </a:rPr>
                        <a:t>Embedded C / C++ (Keil / Arduino)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B282C"/>
                          </a:solidFill>
                          <a:latin typeface="Lato"/>
                        </a:rPr>
                        <a:t>Sampling &amp; FastICA preprocessing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337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3B282C"/>
                          </a:solidFill>
                          <a:latin typeface="Lato"/>
                        </a:rPr>
                        <a:t>IoT Gateway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B282C"/>
                          </a:solidFill>
                          <a:latin typeface="Lato"/>
                        </a:rPr>
                        <a:t>MQTT / HTTP, Node-RED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B282C"/>
                          </a:solidFill>
                          <a:latin typeface="Lato"/>
                        </a:rPr>
                        <a:t>Real-time streaming to cloud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337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3B282C"/>
                          </a:solidFill>
                          <a:latin typeface="Lato"/>
                        </a:rPr>
                        <a:t>Mobile App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B282C"/>
                          </a:solidFill>
                          <a:latin typeface="Lato"/>
                        </a:rPr>
                        <a:t>Flutter / React Native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B282C"/>
                          </a:solidFill>
                          <a:latin typeface="Lato"/>
                        </a:rPr>
                        <a:t>Push notifications &amp; trend charts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4340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3B282C"/>
                          </a:solidFill>
                          <a:latin typeface="Lato"/>
                        </a:rPr>
                        <a:t>Clinician Portal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B282C"/>
                          </a:solidFill>
                          <a:latin typeface="Lato"/>
                        </a:rPr>
                        <a:t>React.js + WebRTC API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B282C"/>
                          </a:solidFill>
                          <a:latin typeface="Lato"/>
                        </a:rPr>
                        <a:t>EHR dashboard &amp; Telemedicine video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850" y="1314450"/>
            <a:ext cx="342900" cy="3429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3000" y="1385887"/>
            <a:ext cx="24384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A1020"/>
                </a:solidFill>
                <a:latin typeface="Lato SemiBold"/>
              </a:rPr>
              <a:t>Hardware &amp; Sensing Suite (Task 2)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0325" y="1314450"/>
            <a:ext cx="342900" cy="342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48475" y="1385887"/>
            <a:ext cx="33528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A1020"/>
                </a:solidFill>
                <a:latin typeface="Lato SemiBold"/>
              </a:rPr>
              <a:t>Software, AI &amp; Telemedicine Stack (Tasks 1 &amp; 3)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1409700"/>
            <a:ext cx="152400" cy="1524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04850" y="2547937"/>
            <a:ext cx="1387375" cy="9525"/>
          </a:xfrm>
          <a:prstGeom prst="rect">
            <a:avLst/>
          </a:prstGeom>
          <a:solidFill>
            <a:srgbClr val="F0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092225" y="2547937"/>
            <a:ext cx="1779537" cy="9525"/>
          </a:xfrm>
          <a:prstGeom prst="rect">
            <a:avLst/>
          </a:prstGeom>
          <a:solidFill>
            <a:srgbClr val="F0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871763" y="2547937"/>
            <a:ext cx="1909911" cy="9525"/>
          </a:xfrm>
          <a:prstGeom prst="rect">
            <a:avLst/>
          </a:prstGeom>
          <a:solidFill>
            <a:srgbClr val="F0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04850" y="3014662"/>
            <a:ext cx="1387375" cy="9525"/>
          </a:xfrm>
          <a:prstGeom prst="rect">
            <a:avLst/>
          </a:prstGeom>
          <a:solidFill>
            <a:srgbClr val="F0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092225" y="3014662"/>
            <a:ext cx="1779537" cy="9525"/>
          </a:xfrm>
          <a:prstGeom prst="rect">
            <a:avLst/>
          </a:prstGeom>
          <a:solidFill>
            <a:srgbClr val="F0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871763" y="3014662"/>
            <a:ext cx="1909911" cy="9525"/>
          </a:xfrm>
          <a:prstGeom prst="rect">
            <a:avLst/>
          </a:prstGeom>
          <a:solidFill>
            <a:srgbClr val="F0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04850" y="3481387"/>
            <a:ext cx="1387375" cy="9525"/>
          </a:xfrm>
          <a:prstGeom prst="rect">
            <a:avLst/>
          </a:prstGeom>
          <a:solidFill>
            <a:srgbClr val="F0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092225" y="3481387"/>
            <a:ext cx="1779537" cy="9525"/>
          </a:xfrm>
          <a:prstGeom prst="rect">
            <a:avLst/>
          </a:prstGeom>
          <a:solidFill>
            <a:srgbClr val="F0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871763" y="3481387"/>
            <a:ext cx="1909911" cy="9525"/>
          </a:xfrm>
          <a:prstGeom prst="rect">
            <a:avLst/>
          </a:prstGeom>
          <a:solidFill>
            <a:srgbClr val="F0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04850" y="3948112"/>
            <a:ext cx="1387375" cy="9525"/>
          </a:xfrm>
          <a:prstGeom prst="rect">
            <a:avLst/>
          </a:prstGeom>
          <a:solidFill>
            <a:srgbClr val="F0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092225" y="3948112"/>
            <a:ext cx="1779537" cy="9525"/>
          </a:xfrm>
          <a:prstGeom prst="rect">
            <a:avLst/>
          </a:prstGeom>
          <a:solidFill>
            <a:srgbClr val="F0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871763" y="3948112"/>
            <a:ext cx="1909911" cy="9525"/>
          </a:xfrm>
          <a:prstGeom prst="rect">
            <a:avLst/>
          </a:prstGeom>
          <a:solidFill>
            <a:srgbClr val="F0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04850" y="4414837"/>
            <a:ext cx="1387375" cy="9525"/>
          </a:xfrm>
          <a:prstGeom prst="rect">
            <a:avLst/>
          </a:prstGeom>
          <a:solidFill>
            <a:srgbClr val="F0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092225" y="4414837"/>
            <a:ext cx="1779537" cy="9525"/>
          </a:xfrm>
          <a:prstGeom prst="rect">
            <a:avLst/>
          </a:prstGeom>
          <a:solidFill>
            <a:srgbClr val="F0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871763" y="4414837"/>
            <a:ext cx="1909911" cy="9525"/>
          </a:xfrm>
          <a:prstGeom prst="rect">
            <a:avLst/>
          </a:prstGeom>
          <a:solidFill>
            <a:srgbClr val="F0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86525" y="1409700"/>
            <a:ext cx="190500" cy="1524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6410325" y="2547937"/>
            <a:ext cx="1276796" cy="9525"/>
          </a:xfrm>
          <a:prstGeom prst="rect">
            <a:avLst/>
          </a:prstGeom>
          <a:solidFill>
            <a:srgbClr val="F0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687121" y="2547937"/>
            <a:ext cx="1829841" cy="9525"/>
          </a:xfrm>
          <a:prstGeom prst="rect">
            <a:avLst/>
          </a:prstGeom>
          <a:solidFill>
            <a:srgbClr val="F0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516963" y="2547937"/>
            <a:ext cx="1970186" cy="9525"/>
          </a:xfrm>
          <a:prstGeom prst="rect">
            <a:avLst/>
          </a:prstGeom>
          <a:solidFill>
            <a:srgbClr val="F0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10325" y="3014662"/>
            <a:ext cx="1276796" cy="9525"/>
          </a:xfrm>
          <a:prstGeom prst="rect">
            <a:avLst/>
          </a:prstGeom>
          <a:solidFill>
            <a:srgbClr val="F0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687121" y="3014662"/>
            <a:ext cx="1829841" cy="9525"/>
          </a:xfrm>
          <a:prstGeom prst="rect">
            <a:avLst/>
          </a:prstGeom>
          <a:solidFill>
            <a:srgbClr val="F0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516963" y="3014662"/>
            <a:ext cx="1970186" cy="9525"/>
          </a:xfrm>
          <a:prstGeom prst="rect">
            <a:avLst/>
          </a:prstGeom>
          <a:solidFill>
            <a:srgbClr val="F0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410325" y="3328987"/>
            <a:ext cx="1276796" cy="9525"/>
          </a:xfrm>
          <a:prstGeom prst="rect">
            <a:avLst/>
          </a:prstGeom>
          <a:solidFill>
            <a:srgbClr val="F0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687121" y="3328987"/>
            <a:ext cx="1829841" cy="9525"/>
          </a:xfrm>
          <a:prstGeom prst="rect">
            <a:avLst/>
          </a:prstGeom>
          <a:solidFill>
            <a:srgbClr val="F0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516963" y="3328987"/>
            <a:ext cx="1970186" cy="9525"/>
          </a:xfrm>
          <a:prstGeom prst="rect">
            <a:avLst/>
          </a:prstGeom>
          <a:solidFill>
            <a:srgbClr val="F0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410325" y="3795712"/>
            <a:ext cx="1276796" cy="9525"/>
          </a:xfrm>
          <a:prstGeom prst="rect">
            <a:avLst/>
          </a:prstGeom>
          <a:solidFill>
            <a:srgbClr val="F0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687121" y="3795712"/>
            <a:ext cx="1829841" cy="9525"/>
          </a:xfrm>
          <a:prstGeom prst="rect">
            <a:avLst/>
          </a:prstGeom>
          <a:solidFill>
            <a:srgbClr val="F0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516963" y="3795712"/>
            <a:ext cx="1970186" cy="9525"/>
          </a:xfrm>
          <a:prstGeom prst="rect">
            <a:avLst/>
          </a:prstGeom>
          <a:solidFill>
            <a:srgbClr val="F0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410325" y="4262437"/>
            <a:ext cx="1276796" cy="9525"/>
          </a:xfrm>
          <a:prstGeom prst="rect">
            <a:avLst/>
          </a:prstGeom>
          <a:solidFill>
            <a:srgbClr val="F0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7687121" y="4262437"/>
            <a:ext cx="1829841" cy="9525"/>
          </a:xfrm>
          <a:prstGeom prst="rect">
            <a:avLst/>
          </a:prstGeom>
          <a:solidFill>
            <a:srgbClr val="F0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516963" y="4262437"/>
            <a:ext cx="1970186" cy="9525"/>
          </a:xfrm>
          <a:prstGeom prst="rect">
            <a:avLst/>
          </a:prstGeom>
          <a:solidFill>
            <a:srgbClr val="F0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" y="1133475"/>
            <a:ext cx="5476875" cy="5334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1133475"/>
            <a:ext cx="5476875" cy="24717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3719512"/>
            <a:ext cx="5476875" cy="274796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0325" y="4829175"/>
            <a:ext cx="5076825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4825" y="390525"/>
            <a:ext cx="1168717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0" i="0" u="none">
                <a:solidFill>
                  <a:srgbClr val="7A1C30"/>
                </a:solidFill>
                <a:latin typeface="Poppins SemiBold"/>
              </a:rPr>
              <a:t>Tentative Circuit Diagram &amp; Hardware Layout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825" y="923925"/>
            <a:ext cx="11182350" cy="19050"/>
          </a:xfrm>
          <a:prstGeom prst="rect">
            <a:avLst/>
          </a:prstGeom>
          <a:solidFill>
            <a:srgbClr val="F0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77550" y="485775"/>
            <a:ext cx="809625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350" y="1143000"/>
            <a:ext cx="5457825" cy="53149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10325" y="4319587"/>
            <a:ext cx="5076825" cy="3571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sz="937" b="0" i="0" u="none">
                <a:solidFill>
                  <a:srgbClr val="5C4A4D"/>
                </a:solidFill>
                <a:latin typeface="Lato"/>
              </a:rPr>
              <a:t>The wearable device is housed in a compact 3D-printed enclosure powered by a </a:t>
            </a:r>
            <a:r>
              <a:rPr sz="937" b="1" i="0" u="none">
                <a:solidFill>
                  <a:srgbClr val="5C4A4D"/>
                </a:solidFill>
                <a:latin typeface="Lato"/>
              </a:rPr>
              <a:t>3.7V 1800mAh Li-ion battery</a:t>
            </a:r>
            <a:r>
              <a:rPr sz="937" b="0" i="0" u="none">
                <a:solidFill>
                  <a:srgbClr val="5C4A4D"/>
                </a:solidFill>
                <a:latin typeface="Lato"/>
              </a:rPr>
              <a:t>, TP4056 charging circuit, and 5V boost converter.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8900" y="1314450"/>
            <a:ext cx="342900" cy="3429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77050" y="1385887"/>
            <a:ext cx="17811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A1020"/>
                </a:solidFill>
                <a:latin typeface="Lato SemiBold"/>
              </a:rPr>
              <a:t>Interfacing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5575" y="1731168"/>
            <a:ext cx="857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A3B3E"/>
                </a:solidFill>
                <a:latin typeface="Lato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1300" y="1733550"/>
            <a:ext cx="4895850" cy="428625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A3B3E"/>
                </a:solidFill>
                <a:latin typeface="Lato"/>
              </a:rPr>
              <a:t>I2C Bus (SDA/SCL):</a:t>
            </a:r>
            <a:r>
              <a:rPr sz="1125" b="0" i="0" u="none">
                <a:solidFill>
                  <a:srgbClr val="4A3B3E"/>
                </a:solidFill>
                <a:latin typeface="Lato"/>
              </a:rPr>
              <a:t> Interfaces MAX30102 (PPG/SpO₂), BME280, and local OLED display.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5575" y="2207418"/>
            <a:ext cx="857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A3B3E"/>
                </a:solidFill>
                <a:latin typeface="Lato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1300" y="2209800"/>
            <a:ext cx="4895850" cy="428625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A3B3E"/>
                </a:solidFill>
                <a:latin typeface="Lato"/>
              </a:rPr>
              <a:t>Analog Pins (A0-A3):</a:t>
            </a:r>
            <a:r>
              <a:rPr sz="1125" b="0" i="0" u="none">
                <a:solidFill>
                  <a:srgbClr val="4A3B3E"/>
                </a:solidFill>
                <a:latin typeface="Lato"/>
              </a:rPr>
              <a:t> Connected to Grove GSR (palmar surface) and MyoWare EMG muscle sensor inputs.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5575" y="2683668"/>
            <a:ext cx="857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A3B3E"/>
                </a:solidFill>
                <a:latin typeface="Lato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1300" y="2686050"/>
            <a:ext cx="4895850" cy="428625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A3B3E"/>
                </a:solidFill>
                <a:latin typeface="Lato"/>
              </a:rPr>
              <a:t>SPI Bus / UART:</a:t>
            </a:r>
            <a:r>
              <a:rPr sz="1125" b="0" i="0" u="none">
                <a:solidFill>
                  <a:srgbClr val="4A3B3E"/>
                </a:solidFill>
                <a:latin typeface="Lato"/>
              </a:rPr>
              <a:t> Communicates with TGAM EEG single-channel module and MicroSD logging module.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5575" y="3159918"/>
            <a:ext cx="857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A3B3E"/>
                </a:solidFill>
                <a:latin typeface="Lato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1300" y="3162300"/>
            <a:ext cx="4895850" cy="214312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A3B3E"/>
                </a:solidFill>
                <a:latin typeface="Lato"/>
              </a:rPr>
              <a:t>1-Wire Digital (GPIO 4):</a:t>
            </a:r>
            <a:r>
              <a:rPr sz="1125" b="0" i="0" u="none">
                <a:solidFill>
                  <a:srgbClr val="4A3B3E"/>
                </a:solidFill>
                <a:latin typeface="Lato"/>
              </a:rPr>
              <a:t> Interfaces DS18B20 digital skin temperature sensor.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0325" y="3900487"/>
            <a:ext cx="342900" cy="3429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848475" y="3971925"/>
            <a:ext cx="23717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A1020"/>
                </a:solidFill>
                <a:latin typeface="Lato SemiBold"/>
              </a:rPr>
              <a:t>Power Management &amp; Enclosure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4150" y="4933950"/>
            <a:ext cx="114300" cy="1143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24625" y="1409700"/>
            <a:ext cx="171450" cy="1524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96050" y="3995737"/>
            <a:ext cx="1714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" y="5231606"/>
            <a:ext cx="11182350" cy="9572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1133475"/>
            <a:ext cx="5476875" cy="396478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825" y="1133475"/>
            <a:ext cx="5476875" cy="144065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825" y="2669381"/>
            <a:ext cx="5476875" cy="24288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4825" y="390525"/>
            <a:ext cx="1168717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0" i="0" u="none">
                <a:solidFill>
                  <a:srgbClr val="7A1C30"/>
                </a:solidFill>
                <a:latin typeface="Poppins SemiBold"/>
              </a:rPr>
              <a:t>Deep Learning &amp; AI/ML Approaches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825" y="923925"/>
            <a:ext cx="11182350" cy="19050"/>
          </a:xfrm>
          <a:prstGeom prst="rect">
            <a:avLst/>
          </a:prstGeom>
          <a:solidFill>
            <a:srgbClr val="F0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77550" y="485775"/>
            <a:ext cx="809625" cy="247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4850" y="5412581"/>
            <a:ext cx="107823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7A1C30"/>
                </a:solidFill>
                <a:latin typeface="Lato SemiBold"/>
              </a:rPr>
              <a:t>Benchmarking &amp; Validation 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850" y="5650706"/>
            <a:ext cx="10782300" cy="3571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sz="937" b="0" i="0" u="none">
                <a:solidFill>
                  <a:srgbClr val="5C4A4D"/>
                </a:solidFill>
                <a:latin typeface="Lato"/>
              </a:rPr>
              <a:t>Models are evaluated using 10-Fold Cross-Validation on our primary 200-participant dataset (4 stressor tasks) as well as public benchmark datasets (WESAD &amp; SWELL-KW). Key evaluation metrics include </a:t>
            </a:r>
            <a:r>
              <a:rPr sz="937" b="1" i="0" u="none">
                <a:solidFill>
                  <a:srgbClr val="5C4A4D"/>
                </a:solidFill>
                <a:latin typeface="Lato"/>
              </a:rPr>
              <a:t>Accuracy, Precision, Recall, F1-Score, and AUC-ROC</a:t>
            </a:r>
            <a:r>
              <a:rPr sz="937" b="0" i="0" u="none">
                <a:solidFill>
                  <a:srgbClr val="5C4A4D"/>
                </a:solidFill>
                <a:latin typeface="Lato"/>
              </a:rPr>
              <a:t>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9825" y="1143000"/>
            <a:ext cx="5457825" cy="3945731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425" y="1314450"/>
            <a:ext cx="1390650" cy="2000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3425" y="1609725"/>
            <a:ext cx="5048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A1020"/>
                </a:solidFill>
                <a:latin typeface="Lato SemiBold"/>
              </a:rPr>
              <a:t>Deep Learning Models vs. Conventional Classifiers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425" y="1857375"/>
            <a:ext cx="5048250" cy="5357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sz="937" b="0" i="0" u="none">
                <a:solidFill>
                  <a:srgbClr val="3B282C"/>
                </a:solidFill>
                <a:latin typeface="Lato"/>
              </a:rPr>
              <a:t>Conventional models (XGBoost 96.17%, RF 96.03%, SVM 94.97%) rely on static summary metrics. Advanced Deep Learning models capture </a:t>
            </a:r>
            <a:r>
              <a:rPr sz="937" b="1" i="0" u="none">
                <a:solidFill>
                  <a:srgbClr val="3B282C"/>
                </a:solidFill>
                <a:latin typeface="Lato"/>
              </a:rPr>
              <a:t>temporal non-stationary physiological dynamics</a:t>
            </a:r>
            <a:r>
              <a:rPr sz="937" b="0" i="0" u="none">
                <a:solidFill>
                  <a:srgbClr val="3B282C"/>
                </a:solidFill>
                <a:latin typeface="Lato"/>
              </a:rPr>
              <a:t> across raw time-series sequences.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850" y="2850356"/>
            <a:ext cx="50768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7A1C30"/>
                </a:solidFill>
                <a:latin typeface="Lato SemiBold"/>
              </a:rPr>
              <a:t>Deep Learning Architectures under Investigation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525" y="3086100"/>
            <a:ext cx="857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A3B3E"/>
                </a:solidFill>
                <a:latin typeface="Lato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250" y="3088481"/>
            <a:ext cx="4924425" cy="428625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A3B3E"/>
                </a:solidFill>
                <a:latin typeface="Lato"/>
              </a:rPr>
              <a:t>1D-CNN:</a:t>
            </a:r>
            <a:r>
              <a:rPr sz="1125" b="0" i="0" u="none">
                <a:solidFill>
                  <a:srgbClr val="4A3B3E"/>
                </a:solidFill>
                <a:latin typeface="Lato"/>
              </a:rPr>
              <a:t> Extracts spatial patterns &amp; morphological features from raw ECG/PPG waveforms.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1525" y="3543300"/>
            <a:ext cx="857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A3B3E"/>
                </a:solidFill>
                <a:latin typeface="Lato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250" y="3545681"/>
            <a:ext cx="4924425" cy="428625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A3B3E"/>
                </a:solidFill>
                <a:latin typeface="Lato"/>
              </a:rPr>
              <a:t>LSTM &amp; Bi-LSTM:</a:t>
            </a:r>
            <a:r>
              <a:rPr sz="1125" b="0" i="0" u="none">
                <a:solidFill>
                  <a:srgbClr val="4A3B3E"/>
                </a:solidFill>
                <a:latin typeface="Lato"/>
              </a:rPr>
              <a:t> Captures bidirectional temporal dependencies in skin conductance &amp; heart rate variations.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1525" y="4000500"/>
            <a:ext cx="857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A3B3E"/>
                </a:solidFill>
                <a:latin typeface="Lato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250" y="4002881"/>
            <a:ext cx="4924425" cy="428625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A3B3E"/>
                </a:solidFill>
                <a:latin typeface="Lato"/>
              </a:rPr>
              <a:t>Transformer &amp; Temporal Transformer:</a:t>
            </a:r>
            <a:r>
              <a:rPr sz="1125" b="0" i="0" u="none">
                <a:solidFill>
                  <a:srgbClr val="4A3B3E"/>
                </a:solidFill>
                <a:latin typeface="Lato"/>
              </a:rPr>
              <a:t> Uses multi-head self-attention to model long-range stress dynamics.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1525" y="4457700"/>
            <a:ext cx="857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A3B3E"/>
                </a:solidFill>
                <a:latin typeface="Lato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250" y="4460081"/>
            <a:ext cx="4924425" cy="428625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A3B3E"/>
                </a:solidFill>
                <a:latin typeface="Lato"/>
              </a:rPr>
              <a:t>Graph Neural Networks (GNN):</a:t>
            </a:r>
            <a:r>
              <a:rPr sz="1125" b="0" i="0" u="none">
                <a:solidFill>
                  <a:srgbClr val="4A3B3E"/>
                </a:solidFill>
                <a:latin typeface="Lato"/>
              </a:rPr>
              <a:t> Models non-Euclidean inter-sensor correlations (e.g., EEG-ECG interactions) as graph nodes.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" y="4095750"/>
            <a:ext cx="11182350" cy="112633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25" y="1133475"/>
            <a:ext cx="5476875" cy="28289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1133475"/>
            <a:ext cx="5476875" cy="28289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850" y="2066925"/>
            <a:ext cx="2274689" cy="10001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0325" y="1771650"/>
            <a:ext cx="5076825" cy="523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0325" y="2390775"/>
            <a:ext cx="5076825" cy="523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0325" y="3009900"/>
            <a:ext cx="5076825" cy="5238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4825" y="390525"/>
            <a:ext cx="1168717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0" i="0" u="none">
                <a:solidFill>
                  <a:srgbClr val="7A1C30"/>
                </a:solidFill>
                <a:latin typeface="Poppins SemiBold"/>
              </a:rPr>
              <a:t>Remote Telemedicine, Timeline &amp; Conclusion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825" y="923925"/>
            <a:ext cx="11182350" cy="19050"/>
          </a:xfrm>
          <a:prstGeom prst="rect">
            <a:avLst/>
          </a:prstGeom>
          <a:solidFill>
            <a:srgbClr val="F0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77550" y="485775"/>
            <a:ext cx="809625" cy="247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3425" y="4695825"/>
            <a:ext cx="10753725" cy="3452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sz="937" b="0" i="0" u="none">
                <a:solidFill>
                  <a:srgbClr val="3B282C"/>
                </a:solidFill>
                <a:latin typeface="Lato"/>
              </a:rPr>
              <a:t>This project establishes a low-cost, medical-grade, multimodal stress detection system. By shifting from traditional ML to </a:t>
            </a:r>
            <a:r>
              <a:rPr sz="937" b="1" i="0" u="none">
                <a:solidFill>
                  <a:srgbClr val="3B282C"/>
                </a:solidFill>
                <a:latin typeface="Lato"/>
              </a:rPr>
              <a:t>Temporal Transformers and GNNs</a:t>
            </a:r>
            <a:r>
              <a:rPr sz="937" b="0" i="0" u="none">
                <a:solidFill>
                  <a:srgbClr val="3B282C"/>
                </a:solidFill>
                <a:latin typeface="Lato"/>
              </a:rPr>
              <a:t>, expanding the sensor payload to include </a:t>
            </a:r>
            <a:r>
              <a:rPr sz="937" b="1" i="0" u="none">
                <a:solidFill>
                  <a:srgbClr val="3B282C"/>
                </a:solidFill>
                <a:latin typeface="Lato"/>
              </a:rPr>
              <a:t>EEG, PPG, SpO₂, NIBP, and EMG</a:t>
            </a:r>
            <a:r>
              <a:rPr sz="937" b="0" i="0" u="none">
                <a:solidFill>
                  <a:srgbClr val="3B282C"/>
                </a:solidFill>
                <a:latin typeface="Lato"/>
              </a:rPr>
              <a:t>, and deploying a </a:t>
            </a:r>
            <a:r>
              <a:rPr sz="937" b="1" i="0" u="none">
                <a:solidFill>
                  <a:srgbClr val="3B282C"/>
                </a:solidFill>
                <a:latin typeface="Lato"/>
              </a:rPr>
              <a:t>full Telemedicine cloud ecosystem</a:t>
            </a:r>
            <a:r>
              <a:rPr sz="937" b="0" i="0" u="none">
                <a:solidFill>
                  <a:srgbClr val="3B282C"/>
                </a:solidFill>
                <a:latin typeface="Lato"/>
              </a:rPr>
              <a:t>, we deliver a scalable solution for personal wellness and clinical psychiatric care.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4850" y="1314450"/>
            <a:ext cx="1257300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3425" y="4276725"/>
            <a:ext cx="342900" cy="3429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71575" y="4362450"/>
            <a:ext cx="22002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A1020"/>
                </a:solidFill>
                <a:latin typeface="Lato SemiBold"/>
              </a:rPr>
              <a:t>Expected Outcomes &amp; Conclusion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4850" y="1609725"/>
            <a:ext cx="342900" cy="3429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43000" y="1695450"/>
            <a:ext cx="25908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A1020"/>
                </a:solidFill>
                <a:latin typeface="Lato SemiBold"/>
              </a:rPr>
              <a:t>Telemedicine &amp; Dashboard Architecture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10325" y="1314450"/>
            <a:ext cx="342900" cy="3429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848475" y="1400175"/>
            <a:ext cx="17430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A1020"/>
                </a:solidFill>
                <a:latin typeface="Lato SemiBold"/>
              </a:rPr>
              <a:t>Project Execution Timeline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8200" y="4371975"/>
            <a:ext cx="13335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0575" y="1704975"/>
            <a:ext cx="17145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4375" y="2076450"/>
            <a:ext cx="2255639" cy="9810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15100" y="1409700"/>
            <a:ext cx="133350" cy="1524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572250" y="1962150"/>
            <a:ext cx="10477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7A1C30"/>
                </a:solidFill>
                <a:latin typeface="Lato"/>
              </a:rPr>
              <a:t>PHASE 1 (Jul 2026)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582275" y="1938337"/>
            <a:ext cx="742950" cy="1905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72250" y="2581275"/>
            <a:ext cx="10477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7A1C30"/>
                </a:solidFill>
                <a:latin typeface="Lato"/>
              </a:rPr>
              <a:t>PHASE 2 (Aug 2026)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658475" y="2557462"/>
            <a:ext cx="666750" cy="1905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572250" y="3200400"/>
            <a:ext cx="10477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7A1C30"/>
                </a:solidFill>
                <a:latin typeface="Lato"/>
              </a:rPr>
              <a:t>PHASE 3 (Sep 2026)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706100" y="3176587"/>
            <a:ext cx="619125" cy="1905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122414" y="2064543"/>
            <a:ext cx="857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A3B3E"/>
                </a:solidFill>
                <a:latin typeface="Lato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8139" y="2066925"/>
            <a:ext cx="2573535" cy="428625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A3B3E"/>
                </a:solidFill>
                <a:latin typeface="Lato"/>
              </a:rPr>
              <a:t>Mobile Push Alerts:</a:t>
            </a:r>
            <a:r>
              <a:rPr sz="1125" b="0" i="0" u="none">
                <a:solidFill>
                  <a:srgbClr val="4A3B3E"/>
                </a:solidFill>
                <a:latin typeface="Lato"/>
              </a:rPr>
              <a:t> Real-time stress spike warnings.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22414" y="2493168"/>
            <a:ext cx="857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A3B3E"/>
                </a:solidFill>
                <a:latin typeface="Lato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8139" y="2495550"/>
            <a:ext cx="2573535" cy="428625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A3B3E"/>
                </a:solidFill>
                <a:latin typeface="Lato"/>
              </a:rPr>
              <a:t>Historical Analytics:</a:t>
            </a:r>
            <a:r>
              <a:rPr sz="1125" b="0" i="0" u="none">
                <a:solidFill>
                  <a:srgbClr val="4A3B3E"/>
                </a:solidFill>
                <a:latin typeface="Lato"/>
              </a:rPr>
              <a:t> Daily/Weekly circadian stress trends.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22414" y="2921793"/>
            <a:ext cx="857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A3B3E"/>
                </a:solidFill>
                <a:latin typeface="Lato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8139" y="2924175"/>
            <a:ext cx="2573535" cy="428625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A3B3E"/>
                </a:solidFill>
                <a:latin typeface="Lato"/>
              </a:rPr>
              <a:t>Clinician Portal:</a:t>
            </a:r>
            <a:r>
              <a:rPr sz="1125" b="0" i="0" u="none">
                <a:solidFill>
                  <a:srgbClr val="4A3B3E"/>
                </a:solidFill>
                <a:latin typeface="Lato"/>
              </a:rPr>
              <a:t> Centralized multi-patient telemetry.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22414" y="3350418"/>
            <a:ext cx="857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A3B3E"/>
                </a:solidFill>
                <a:latin typeface="Lato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8139" y="3352800"/>
            <a:ext cx="2573535" cy="428625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A3B3E"/>
                </a:solidFill>
                <a:latin typeface="Lato"/>
              </a:rPr>
              <a:t>Telemedicine Hook:</a:t>
            </a:r>
            <a:r>
              <a:rPr sz="1125" b="0" i="0" u="none">
                <a:solidFill>
                  <a:srgbClr val="4A3B3E"/>
                </a:solidFill>
                <a:latin typeface="Lato"/>
              </a:rPr>
              <a:t> WebRTC video consultation trigger.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53350" y="1876425"/>
            <a:ext cx="2695575" cy="164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93"/>
              </a:lnSpc>
            </a:pPr>
            <a:r>
              <a:rPr sz="862" b="0" i="0" u="none">
                <a:solidFill>
                  <a:srgbClr val="2B181D"/>
                </a:solidFill>
                <a:latin typeface="Lato SemiBold"/>
              </a:rPr>
              <a:t>Lit Survey &amp; Component Selection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53350" y="2040731"/>
            <a:ext cx="2695575" cy="1500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81"/>
              </a:lnSpc>
            </a:pPr>
            <a:r>
              <a:rPr sz="787" b="0" i="0" u="none">
                <a:solidFill>
                  <a:srgbClr val="6E5D60"/>
                </a:solidFill>
                <a:latin typeface="Lato"/>
              </a:rPr>
              <a:t>Review-1 preparation, sensor sourcing &amp; circuit design.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53350" y="2495550"/>
            <a:ext cx="2771775" cy="164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93"/>
              </a:lnSpc>
            </a:pPr>
            <a:r>
              <a:rPr sz="862" b="0" i="0" u="none">
                <a:solidFill>
                  <a:srgbClr val="2B181D"/>
                </a:solidFill>
                <a:latin typeface="Lato SemiBold"/>
              </a:rPr>
              <a:t>Hardware Integration &amp; Sensor Testing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53350" y="2659856"/>
            <a:ext cx="2771775" cy="1500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81"/>
              </a:lnSpc>
            </a:pPr>
            <a:r>
              <a:rPr sz="787" b="0" i="0" u="none">
                <a:solidFill>
                  <a:srgbClr val="6E5D60"/>
                </a:solidFill>
                <a:latin typeface="Lato"/>
              </a:rPr>
              <a:t>Interfacing EEG, PPG, EMG, ECG, GSR to ESP32.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53350" y="3114675"/>
            <a:ext cx="2819400" cy="164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93"/>
              </a:lnSpc>
            </a:pPr>
            <a:r>
              <a:rPr sz="862" b="0" i="0" u="none">
                <a:solidFill>
                  <a:srgbClr val="2B181D"/>
                </a:solidFill>
                <a:latin typeface="Lato SemiBold"/>
              </a:rPr>
              <a:t>Deep Learning Benchmarking &amp; App Setup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53350" y="3278981"/>
            <a:ext cx="2819400" cy="1500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81"/>
              </a:lnSpc>
            </a:pPr>
            <a:r>
              <a:rPr sz="787" b="0" i="0" u="none">
                <a:solidFill>
                  <a:srgbClr val="6E5D60"/>
                </a:solidFill>
                <a:latin typeface="Lato"/>
              </a:rPr>
              <a:t>Training CNN, LSTM, Transformer, GNN; Mobile/Web app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1170</Words>
  <Application>Microsoft Office PowerPoint</Application>
  <PresentationFormat>Widescreen</PresentationFormat>
  <Paragraphs>134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Lato</vt:lpstr>
      <vt:lpstr>Lato SemiBold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PRANEET RAJ</cp:lastModifiedBy>
  <cp:revision>2</cp:revision>
  <dcterms:created xsi:type="dcterms:W3CDTF">2013-01-27T09:14:16Z</dcterms:created>
  <dcterms:modified xsi:type="dcterms:W3CDTF">2026-07-30T18:27:07Z</dcterms:modified>
  <cp:category/>
</cp:coreProperties>
</file>